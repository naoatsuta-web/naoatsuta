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2011680"/>
            <a:ext cx="6705295" cy="18288"/>
          </a:xfrm>
          <a:prstGeom prst="rect">
            <a:avLst/>
          </a:prstGeom>
          <a:solidFill>
            <a:srgbClr val="5BA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A3C6E"/>
                </a:solidFill>
                <a:latin typeface="Yu Gothic"/>
              </a:rPr>
              <a:t>生成AI実践コース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B5EA7"/>
                </a:solidFill>
                <a:latin typeface="Yu Gothic"/>
              </a:rPr>
              <a:t>（初級・中級・上級）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749039"/>
            <a:ext cx="6705295" cy="18288"/>
          </a:xfrm>
          <a:prstGeom prst="rect">
            <a:avLst/>
          </a:prstGeom>
          <a:solidFill>
            <a:srgbClr val="5BA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0233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3C6E"/>
                </a:solidFill>
                <a:latin typeface="Yu Gothic"/>
              </a:rPr>
              <a:t>リスキリング研修のご提案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828800"/>
            <a:ext cx="137160" cy="3200400"/>
          </a:xfrm>
          <a:prstGeom prst="rect">
            <a:avLst/>
          </a:prstGeom>
          <a:solidFill>
            <a:srgbClr val="5BA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54535" y="1828800"/>
            <a:ext cx="137160" cy="3200400"/>
          </a:xfrm>
          <a:prstGeom prst="rect">
            <a:avLst/>
          </a:prstGeom>
          <a:solidFill>
            <a:srgbClr val="5BA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Yu Gothic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Yu Gothic"/>
              </a:rPr>
              <a:t>会社紹介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554480"/>
            <a:ext cx="3962095" cy="27432"/>
          </a:xfrm>
          <a:prstGeom prst="rect">
            <a:avLst/>
          </a:prstGeom>
          <a:solidFill>
            <a:srgbClr val="5BA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2011680"/>
            <a:ext cx="7619695" cy="411480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286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3C6E"/>
                </a:solidFill>
                <a:latin typeface="Yu Gothic"/>
              </a:rPr>
              <a:t>合同会社N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017520"/>
            <a:ext cx="3047695" cy="18288"/>
          </a:xfrm>
          <a:prstGeom prst="rect">
            <a:avLst/>
          </a:prstGeom>
          <a:solidFill>
            <a:srgbClr val="5BA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B5EA7"/>
                </a:solidFill>
                <a:latin typeface="Yu Gothic"/>
              </a:rPr>
              <a:t>代表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Yu Gothic"/>
              </a:rPr>
              <a:t>熱田直央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886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B5EA7"/>
                </a:solidFill>
                <a:latin typeface="Yu Gothic"/>
              </a:rPr>
              <a:t>電話番号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886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Yu Gothic"/>
              </a:rPr>
              <a:t>080-2373-5119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480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B5EA7"/>
                </a:solidFill>
                <a:latin typeface="Yu Gothic"/>
              </a:rPr>
              <a:t>所在地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Yu Gothic"/>
              </a:rPr>
              <a:t>東京都千代田区神田和泉町1番地6-16ヤマトビル405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011680"/>
            <a:ext cx="73152" cy="41148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Yu Gothic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なぜ生成AIの活用が必要なのか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B0D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32918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3291840" cy="54864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65960" y="1645920"/>
            <a:ext cx="914400" cy="9144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0">
                <a:solidFill>
                  <a:srgbClr val="2C2C2C"/>
                </a:solidFill>
                <a:latin typeface="Yu Gothic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A3C6E"/>
                </a:solidFill>
                <a:latin typeface="Yu Gothic"/>
              </a:rPr>
              <a:t>業務効率化が</a:t>
            </a:r>
            <a:br/>
            <a:r>
              <a:rPr sz="2000" b="1">
                <a:solidFill>
                  <a:srgbClr val="1A3C6E"/>
                </a:solidFill>
                <a:latin typeface="Yu Gothic"/>
              </a:rPr>
              <a:t>経営の生命線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3749040"/>
            <a:ext cx="1828800" cy="13716"/>
          </a:xfrm>
          <a:prstGeom prst="rect">
            <a:avLst/>
          </a:prstGeom>
          <a:solidFill>
            <a:srgbClr val="5BA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9319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Yu Gothic"/>
              </a:rPr>
              <a:t>議事録作成・資料作成など、</a:t>
            </a:r>
            <a:br/>
            <a:r>
              <a:rPr sz="1300" b="0">
                <a:solidFill>
                  <a:srgbClr val="555555"/>
                </a:solidFill>
                <a:latin typeface="Yu Gothic"/>
              </a:rPr>
              <a:t>従来1時間かかる作業を5分に</a:t>
            </a:r>
            <a:br/>
            <a:r>
              <a:rPr sz="1300" b="0">
                <a:solidFill>
                  <a:srgbClr val="555555"/>
                </a:solidFill>
                <a:latin typeface="Yu Gothic"/>
              </a:rPr>
              <a:t>短縮。生産性を大幅に向上。</a:t>
            </a:r>
            <a:br/>
            <a:br/>
            <a:r>
              <a:rPr sz="1300" b="0">
                <a:solidFill>
                  <a:srgbClr val="555555"/>
                </a:solidFill>
                <a:latin typeface="Yu Gothic"/>
              </a:rPr>
              <a:t>効率化により、社員はより</a:t>
            </a:r>
            <a:br/>
            <a:r>
              <a:rPr sz="1300" b="0">
                <a:solidFill>
                  <a:srgbClr val="555555"/>
                </a:solidFill>
                <a:latin typeface="Yu Gothic"/>
              </a:rPr>
              <a:t>価値の高い業務に集中でき、</a:t>
            </a:r>
            <a:br/>
            <a:r>
              <a:rPr sz="1300" b="0">
                <a:solidFill>
                  <a:srgbClr val="555555"/>
                </a:solidFill>
                <a:latin typeface="Yu Gothic"/>
              </a:rPr>
              <a:t>組織全体の成果が向上します。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2918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71600"/>
            <a:ext cx="3291840" cy="54864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0" y="1645920"/>
            <a:ext cx="914400" cy="9144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0">
                <a:solidFill>
                  <a:srgbClr val="2C2C2C"/>
                </a:solidFill>
                <a:latin typeface="Yu Gothic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A3C6E"/>
                </a:solidFill>
                <a:latin typeface="Yu Gothic"/>
              </a:rPr>
              <a:t>キャリアの</a:t>
            </a:r>
            <a:br/>
            <a:r>
              <a:rPr sz="2000" b="1">
                <a:solidFill>
                  <a:srgbClr val="1A3C6E"/>
                </a:solidFill>
                <a:latin typeface="Yu Gothic"/>
              </a:rPr>
              <a:t>分岐点を支える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3749040"/>
            <a:ext cx="1828800" cy="13716"/>
          </a:xfrm>
          <a:prstGeom prst="rect">
            <a:avLst/>
          </a:prstGeom>
          <a:solidFill>
            <a:srgbClr val="5BA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9319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Yu Gothic"/>
              </a:rPr>
              <a:t>AI活用スキルはこれから必須。</a:t>
            </a:r>
            <a:br/>
            <a:r>
              <a:rPr sz="1300" b="0">
                <a:solidFill>
                  <a:srgbClr val="555555"/>
                </a:solidFill>
                <a:latin typeface="Yu Gothic"/>
              </a:rPr>
              <a:t>早期習得でキャリアの幅を</a:t>
            </a:r>
            <a:br/>
            <a:r>
              <a:rPr sz="1300" b="0">
                <a:solidFill>
                  <a:srgbClr val="555555"/>
                </a:solidFill>
                <a:latin typeface="Yu Gothic"/>
              </a:rPr>
              <a:t>広げ、自律的な成長を促進。</a:t>
            </a:r>
            <a:br/>
            <a:br/>
            <a:r>
              <a:rPr sz="1300" b="0">
                <a:solidFill>
                  <a:srgbClr val="555555"/>
                </a:solidFill>
                <a:latin typeface="Yu Gothic"/>
              </a:rPr>
              <a:t>習得の遅れは「スキル格差」を</a:t>
            </a:r>
            <a:br/>
            <a:r>
              <a:rPr sz="1300" b="0">
                <a:solidFill>
                  <a:srgbClr val="555555"/>
                </a:solidFill>
                <a:latin typeface="Yu Gothic"/>
              </a:rPr>
              <a:t>生み、社内外での競争力を失う</a:t>
            </a:r>
            <a:br/>
            <a:r>
              <a:rPr sz="1300" b="0">
                <a:solidFill>
                  <a:srgbClr val="555555"/>
                </a:solidFill>
                <a:latin typeface="Yu Gothic"/>
              </a:rPr>
              <a:t>リスクにもつながります。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71600"/>
            <a:ext cx="32918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71600"/>
            <a:ext cx="3291840" cy="54864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81160" y="1645920"/>
            <a:ext cx="914400" cy="9144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0">
                <a:solidFill>
                  <a:srgbClr val="2C2C2C"/>
                </a:solidFill>
                <a:latin typeface="Yu Gothic"/>
              </a:rPr>
              <a:t>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A3C6E"/>
                </a:solidFill>
                <a:latin typeface="Yu Gothic"/>
              </a:rPr>
              <a:t>変化に強い</a:t>
            </a:r>
            <a:br/>
            <a:r>
              <a:rPr sz="2000" b="1">
                <a:solidFill>
                  <a:srgbClr val="1A3C6E"/>
                </a:solidFill>
                <a:latin typeface="Yu Gothic"/>
              </a:rPr>
              <a:t>組織づくり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3749040"/>
            <a:ext cx="1828800" cy="13716"/>
          </a:xfrm>
          <a:prstGeom prst="rect">
            <a:avLst/>
          </a:prstGeom>
          <a:solidFill>
            <a:srgbClr val="5BA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9319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Yu Gothic"/>
              </a:rPr>
              <a:t>属人化を防ぎ、市場や働き方の</a:t>
            </a:r>
            <a:br/>
            <a:r>
              <a:rPr sz="1300" b="0">
                <a:solidFill>
                  <a:srgbClr val="555555"/>
                </a:solidFill>
                <a:latin typeface="Yu Gothic"/>
              </a:rPr>
              <a:t>変化に柔軟対応できる人材を育成。</a:t>
            </a:r>
            <a:br/>
            <a:r>
              <a:rPr sz="1300" b="0">
                <a:solidFill>
                  <a:srgbClr val="555555"/>
                </a:solidFill>
                <a:latin typeface="Yu Gothic"/>
              </a:rPr>
              <a:t>新しい挑戦を恐れない組織文化を醸成。</a:t>
            </a:r>
            <a:br/>
            <a:br/>
            <a:r>
              <a:rPr sz="1300" b="0">
                <a:solidFill>
                  <a:srgbClr val="555555"/>
                </a:solidFill>
                <a:latin typeface="Yu Gothic"/>
              </a:rPr>
              <a:t>変化に対応できることで、企業は長期的な</a:t>
            </a:r>
            <a:br/>
            <a:r>
              <a:rPr sz="1300" b="0">
                <a:solidFill>
                  <a:srgbClr val="555555"/>
                </a:solidFill>
                <a:latin typeface="Yu Gothic"/>
              </a:rPr>
              <a:t>競争優位を維持できます。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Yu Gothic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結果の出る生成AI活用に必要な知識の研修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B0D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32918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329184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65960" y="1645920"/>
            <a:ext cx="914400" cy="9144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0">
                <a:solidFill>
                  <a:srgbClr val="2C2C2C"/>
                </a:solidFill>
                <a:latin typeface="Yu Gothic"/>
              </a:rPr>
              <a:t>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A3C6E"/>
                </a:solidFill>
                <a:latin typeface="Yu Gothic"/>
              </a:rPr>
              <a:t>AIリテラシー基礎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3749040"/>
            <a:ext cx="1828800" cy="1371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93192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C2C2C"/>
                </a:solidFill>
                <a:latin typeface="Yu Gothic"/>
              </a:rPr>
              <a:t>✓  AIの仕組みと活用事例</a:t>
            </a:r>
            <a:br/>
            <a:r>
              <a:rPr sz="1400" b="0">
                <a:solidFill>
                  <a:srgbClr val="2C2C2C"/>
                </a:solidFill>
                <a:latin typeface="Yu Gothic"/>
              </a:rPr>
              <a:t>✓  チャットや要約の実践</a:t>
            </a:r>
            <a:br/>
            <a:r>
              <a:rPr sz="1400" b="0">
                <a:solidFill>
                  <a:srgbClr val="2C2C2C"/>
                </a:solidFill>
                <a:latin typeface="Yu Gothic"/>
              </a:rPr>
              <a:t>✓  日常業務での応用方法</a:t>
            </a:r>
            <a:br/>
            <a:r>
              <a:rPr sz="1400" b="0">
                <a:solidFill>
                  <a:srgbClr val="2C2C2C"/>
                </a:solidFill>
                <a:latin typeface="Yu Gothic"/>
              </a:rPr>
              <a:t>✓  AI利用におけるリスク理解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2918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71600"/>
            <a:ext cx="3291840" cy="54864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0" y="1645920"/>
            <a:ext cx="914400" cy="9144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0">
                <a:solidFill>
                  <a:srgbClr val="2C2C2C"/>
                </a:solidFill>
                <a:latin typeface="Yu Gothic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A3C6E"/>
                </a:solidFill>
                <a:latin typeface="Yu Gothic"/>
              </a:rPr>
              <a:t>業務活用実践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3749040"/>
            <a:ext cx="1828800" cy="13716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393192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C2C2C"/>
                </a:solidFill>
                <a:latin typeface="Yu Gothic"/>
              </a:rPr>
              <a:t>✓  社内文書・マニュアル作成</a:t>
            </a:r>
            <a:br/>
            <a:r>
              <a:rPr sz="1400" b="0">
                <a:solidFill>
                  <a:srgbClr val="2C2C2C"/>
                </a:solidFill>
                <a:latin typeface="Yu Gothic"/>
              </a:rPr>
              <a:t>✓  データ整理と分析支援</a:t>
            </a:r>
            <a:br/>
            <a:r>
              <a:rPr sz="1400" b="0">
                <a:solidFill>
                  <a:srgbClr val="2C2C2C"/>
                </a:solidFill>
                <a:latin typeface="Yu Gothic"/>
              </a:rPr>
              <a:t>✓  マーケティング施策の効率化</a:t>
            </a:r>
            <a:br/>
            <a:r>
              <a:rPr sz="1400" b="0">
                <a:solidFill>
                  <a:srgbClr val="2C2C2C"/>
                </a:solidFill>
                <a:latin typeface="Yu Gothic"/>
              </a:rPr>
              <a:t>✓  顧客対応・FAQ自動化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71600"/>
            <a:ext cx="32918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71600"/>
            <a:ext cx="3291840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81160" y="1645920"/>
            <a:ext cx="914400" cy="9144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0">
                <a:solidFill>
                  <a:srgbClr val="2C2C2C"/>
                </a:solidFill>
                <a:latin typeface="Yu Gothic"/>
              </a:rPr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A3C6E"/>
                </a:solidFill>
                <a:latin typeface="Yu Gothic"/>
              </a:rPr>
              <a:t>戦略的活用と</a:t>
            </a:r>
            <a:br/>
            <a:r>
              <a:rPr sz="2000" b="1">
                <a:solidFill>
                  <a:srgbClr val="1A3C6E"/>
                </a:solidFill>
                <a:latin typeface="Yu Gothic"/>
              </a:rPr>
              <a:t>DX推進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3749040"/>
            <a:ext cx="1828800" cy="13716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393192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C2C2C"/>
                </a:solidFill>
                <a:latin typeface="Yu Gothic"/>
              </a:rPr>
              <a:t>✓  部署横断でのAI活用設計</a:t>
            </a:r>
            <a:br/>
            <a:r>
              <a:rPr sz="1400" b="0">
                <a:solidFill>
                  <a:srgbClr val="2C2C2C"/>
                </a:solidFill>
                <a:latin typeface="Yu Gothic"/>
              </a:rPr>
              <a:t>✓  業務フロー自動化の構築</a:t>
            </a:r>
            <a:br/>
            <a:r>
              <a:rPr sz="1400" b="0">
                <a:solidFill>
                  <a:srgbClr val="2C2C2C"/>
                </a:solidFill>
                <a:latin typeface="Yu Gothic"/>
              </a:rPr>
              <a:t>✓  カスタマイズAIの導入</a:t>
            </a:r>
            <a:br/>
            <a:r>
              <a:rPr sz="1400" b="0">
                <a:solidFill>
                  <a:srgbClr val="2C2C2C"/>
                </a:solidFill>
                <a:latin typeface="Yu Gothic"/>
              </a:rPr>
              <a:t>✓  DX人材としての</a:t>
            </a:r>
            <a:br/>
            <a:r>
              <a:rPr sz="1400" b="0">
                <a:solidFill>
                  <a:srgbClr val="2C2C2C"/>
                </a:solidFill>
                <a:latin typeface="Yu Gothic"/>
              </a:rPr>
              <a:t>マネジメント力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Yu Gothic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社内で成果を出すための AI×DX 人材育成研修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B0D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03520" cy="484632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B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73152" cy="484632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C6E"/>
                </a:solidFill>
                <a:latin typeface="Yu Gothic"/>
              </a:rPr>
              <a:t>生成AIを正しく</a:t>
            </a:r>
            <a:br/>
            <a:r>
              <a:t>使える人材育成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743200"/>
            <a:ext cx="4114800" cy="13716"/>
          </a:xfrm>
          <a:prstGeom prst="rect">
            <a:avLst/>
          </a:prstGeom>
          <a:solidFill>
            <a:srgbClr val="5BA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55555"/>
                </a:solidFill>
                <a:latin typeface="Yu Gothic"/>
              </a:rPr>
              <a:t>外部委託ではなく社内でAIを運用</a:t>
            </a:r>
            <a:br/>
            <a:r>
              <a:rPr sz="1500" b="0">
                <a:solidFill>
                  <a:srgbClr val="555555"/>
                </a:solidFill>
                <a:latin typeface="Yu Gothic"/>
              </a:rPr>
              <a:t>できる人材を育てることで、独自の</a:t>
            </a:r>
            <a:br/>
            <a:r>
              <a:rPr sz="1500" b="0">
                <a:solidFill>
                  <a:srgbClr val="555555"/>
                </a:solidFill>
                <a:latin typeface="Yu Gothic"/>
              </a:rPr>
              <a:t>ナレッジが蓄積され、持続的に成果</a:t>
            </a:r>
            <a:br/>
            <a:r>
              <a:rPr sz="1500" b="0">
                <a:solidFill>
                  <a:srgbClr val="555555"/>
                </a:solidFill>
                <a:latin typeface="Yu Gothic"/>
              </a:rPr>
              <a:t>を出せる体制を構築できます。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973775" cy="54864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0" y="1737360"/>
            <a:ext cx="2286000" cy="548640"/>
          </a:xfrm>
          <a:prstGeom prst="round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メリット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C2C2C"/>
                </a:solidFill>
                <a:latin typeface="Yu Gothic"/>
              </a:rPr>
              <a:t>✓  最新のAI活用スキルを体系的に習得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54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C2C2C"/>
                </a:solidFill>
                <a:latin typeface="Yu Gothic"/>
              </a:rPr>
              <a:t>✓  業務効率化から戦略設計まで幅広くカバー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49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C2C2C"/>
                </a:solidFill>
                <a:latin typeface="Yu Gothic"/>
              </a:rPr>
              <a:t>✓  社内に「教える人材」が育ち自走できる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C2C2C"/>
                </a:solidFill>
                <a:latin typeface="Yu Gothic"/>
              </a:rPr>
              <a:t>✓  DX推進に直結するスキルを獲得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Yu Gothic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生成AI実践コース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B0D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28016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280160"/>
            <a:ext cx="3291840" cy="50292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</a:rPr>
              <a:t>初級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EA7"/>
                </a:solidFill>
                <a:latin typeface="Yu Gothic"/>
              </a:rPr>
              <a:t>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Yu Gothic"/>
              </a:rPr>
              <a:t>LLMの基礎と活用方法を学び、文章</a:t>
            </a:r>
            <a:br/>
            <a:r>
              <a:rPr sz="1100" b="0">
                <a:solidFill>
                  <a:srgbClr val="2C2C2C"/>
                </a:solidFill>
                <a:latin typeface="Yu Gothic"/>
              </a:rPr>
              <a:t>生成演習と多様なAIツールを体験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EA7"/>
                </a:solidFill>
                <a:latin typeface="Yu Gothic"/>
              </a:rPr>
              <a:t>料金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443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C2C2C"/>
                </a:solidFill>
                <a:latin typeface="Yu Gothic"/>
              </a:rPr>
              <a:t>327,800円（税込）/人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EA7"/>
                </a:solidFill>
                <a:latin typeface="Yu Gothic"/>
              </a:rPr>
              <a:t>標準学習時間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2186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Yu Gothic"/>
              </a:rPr>
              <a:t>11時間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472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EA7"/>
                </a:solidFill>
                <a:latin typeface="Yu Gothic"/>
              </a:rPr>
              <a:t>受講形態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447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Yu Gothic"/>
              </a:rPr>
              <a:t>e-ラーニング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767328"/>
            <a:ext cx="2743200" cy="9144"/>
          </a:xfrm>
          <a:prstGeom prst="rect">
            <a:avLst/>
          </a:prstGeom>
          <a:solidFill>
            <a:srgbClr val="B0D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044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EA7"/>
                </a:solidFill>
                <a:latin typeface="Yu Gothic"/>
              </a:rPr>
              <a:t>内容抜粋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13308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Yu Gothic"/>
              </a:rPr>
              <a:t>✓  生成AIの技術理解と注意点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891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Yu Gothic"/>
              </a:rPr>
              <a:t>✓  生成AIツールの活用力を高めるポイント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6451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Yu Gothic"/>
              </a:rPr>
              <a:t>✓  プロンプトエンジニアリング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90118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Yu Gothic"/>
              </a:rPr>
              <a:t>✓  様々なテキスト生成のポイントと実践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15721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Yu Gothic"/>
              </a:rPr>
              <a:t>✓  様々な分野に特化した生成AIツールの理解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128016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34840" y="1280160"/>
            <a:ext cx="3291840" cy="502920"/>
          </a:xfrm>
          <a:prstGeom prst="round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</a:rPr>
              <a:t>中級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EA7"/>
                </a:solidFill>
                <a:latin typeface="Yu Gothic"/>
              </a:rPr>
              <a:t>目的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1488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Yu Gothic"/>
              </a:rPr>
              <a:t>AIの社会影響を理解し、</a:t>
            </a:r>
            <a:br/>
            <a:r>
              <a:rPr sz="1100" b="0">
                <a:solidFill>
                  <a:srgbClr val="2C2C2C"/>
                </a:solidFill>
                <a:latin typeface="Yu Gothic"/>
              </a:rPr>
              <a:t>プロンプト力と人間の思考力を強化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EA7"/>
                </a:solidFill>
                <a:latin typeface="Yu Gothic"/>
              </a:rPr>
              <a:t>料金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9443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C2C2C"/>
                </a:solidFill>
                <a:latin typeface="Yu Gothic"/>
              </a:rPr>
              <a:t>327,800円（税込）/人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EA7"/>
                </a:solidFill>
                <a:latin typeface="Yu Gothic"/>
              </a:rPr>
              <a:t>標準学習時間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2186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Yu Gothic"/>
              </a:rPr>
              <a:t>11時間10分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34472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EA7"/>
                </a:solidFill>
                <a:latin typeface="Yu Gothic"/>
              </a:rPr>
              <a:t>受講形態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447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Yu Gothic"/>
              </a:rPr>
              <a:t>e-ラーニング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3767328"/>
            <a:ext cx="2743200" cy="9144"/>
          </a:xfrm>
          <a:prstGeom prst="rect">
            <a:avLst/>
          </a:prstGeom>
          <a:solidFill>
            <a:srgbClr val="B0D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39044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EA7"/>
                </a:solidFill>
                <a:latin typeface="Yu Gothic"/>
              </a:rPr>
              <a:t>内容抜粋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13308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Yu Gothic"/>
              </a:rPr>
              <a:t>✓  生成AIの発展と社会に与えるインパクト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3891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Yu Gothic"/>
              </a:rPr>
              <a:t>✓  プロンプトスキル向上のための応用知識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6451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Yu Gothic"/>
              </a:rPr>
              <a:t>✓  生成AIを用いた業務改善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490118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Yu Gothic"/>
              </a:rPr>
              <a:t>✓  生成AIをより上手く活用するための</a:t>
            </a:r>
            <a:br/>
            <a:r>
              <a:rPr sz="1000" b="0">
                <a:solidFill>
                  <a:srgbClr val="2C2C2C"/>
                </a:solidFill>
                <a:latin typeface="Yu Gothic"/>
              </a:rPr>
              <a:t>論理的思考力の醸成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541324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Yu Gothic"/>
              </a:rPr>
              <a:t>✓  生成AI時代に求められる人間の思考力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128016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92440" y="1280160"/>
            <a:ext cx="3291840" cy="5029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</a:rPr>
              <a:t>上級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EA7"/>
                </a:solidFill>
                <a:latin typeface="Yu Gothic"/>
              </a:rPr>
              <a:t>目的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21488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Yu Gothic"/>
              </a:rPr>
              <a:t>課題発見力を磨き、生成AIを</a:t>
            </a:r>
            <a:br/>
            <a:r>
              <a:rPr sz="1100" b="0">
                <a:solidFill>
                  <a:srgbClr val="2C2C2C"/>
                </a:solidFill>
                <a:latin typeface="Yu Gothic"/>
              </a:rPr>
              <a:t>戦略的に活用して実務効率化へ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EA7"/>
                </a:solidFill>
                <a:latin typeface="Yu Gothic"/>
              </a:rPr>
              <a:t>料金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29443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C2C2C"/>
                </a:solidFill>
                <a:latin typeface="Yu Gothic"/>
              </a:rPr>
              <a:t>327,800円（税込）/人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EA7"/>
                </a:solidFill>
                <a:latin typeface="Yu Gothic"/>
              </a:rPr>
              <a:t>標準学習時間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32186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Yu Gothic"/>
              </a:rPr>
              <a:t>11時間30分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34472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EA7"/>
                </a:solidFill>
                <a:latin typeface="Yu Gothic"/>
              </a:rPr>
              <a:t>受講形態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29800" y="3447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Yu Gothic"/>
              </a:rPr>
              <a:t>e-ラーニング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3767328"/>
            <a:ext cx="2743200" cy="9144"/>
          </a:xfrm>
          <a:prstGeom prst="rect">
            <a:avLst/>
          </a:prstGeom>
          <a:solidFill>
            <a:srgbClr val="B0D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20" y="39044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EA7"/>
                </a:solidFill>
                <a:latin typeface="Yu Gothic"/>
              </a:rPr>
              <a:t>内容抜粋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413308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Yu Gothic"/>
              </a:rPr>
              <a:t>✓  DXに対する基本理解と生成AI活用の未来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43891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Yu Gothic"/>
              </a:rPr>
              <a:t>✓  企業と個人のDXを実践するために</a:t>
            </a:r>
            <a:br/>
            <a:r>
              <a:rPr sz="1000" b="0">
                <a:solidFill>
                  <a:srgbClr val="2C2C2C"/>
                </a:solidFill>
                <a:latin typeface="Yu Gothic"/>
              </a:rPr>
              <a:t>「課題」の解像度を高める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490118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Yu Gothic"/>
              </a:rPr>
              <a:t>✓  生成AI活用力の向上と業務改善への道筋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515721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Yu Gothic"/>
              </a:rPr>
              <a:t>✓  個人DXを実現する生成AI活用と具体事例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6172200"/>
            <a:ext cx="11094415" cy="13716"/>
          </a:xfrm>
          <a:prstGeom prst="rect">
            <a:avLst/>
          </a:prstGeom>
          <a:solidFill>
            <a:srgbClr val="B0D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Yu Gothic"/>
              </a:rPr>
              <a:t>本講座はLMS（学習管理システム）を用いて提供しています。</a:t>
            </a:r>
            <a:br/>
            <a:r>
              <a:rPr sz="1100" b="0">
                <a:solidFill>
                  <a:srgbClr val="555555"/>
                </a:solidFill>
                <a:latin typeface="Yu Gothic"/>
              </a:rPr>
              <a:t>LMSでは、受講者の進捗管理や認定証の発行を行うことができます。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Yu Gothic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生成AI実践コース 目次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B0D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5EA7"/>
                </a:solidFill>
                <a:latin typeface="Yu Gothic"/>
              </a:rPr>
              <a:t>研修内容抜粋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47472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初級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イントロダクション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生成AI活用による個人DX推進のための基本概要 (1) 1〜5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生成AI活用による個人DX推進のための基本概要 (2) 1〜7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生成AI活用による個人DX推進のための基本概要 (3) 1〜6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生成AIの技術理解と注意点 (1)〜(4)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生成AIツールの活用力を高めるポイントとプロンプトエンジニアリング (1) 1〜11 ケーススタディ1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生成AIツールの活用力を高めるポイントとプロンプトエンジニアリング (2) 1〜6 ケーススタディ1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生成AI活用力の向上 (1),(2) 1〜8 (1),(2) ケーススタディ12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生成AI活用力の向上 (3) 1〜12 ケーススタディ123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様々な分野に特化した生成AIツールの理解 (1) 1〜7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様々な分野に特化した生成AIツールの理解 (2) 1〜4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様々な分野に特化した生成AIツールの理解 (3) 1〜6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002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51960" y="1600200"/>
            <a:ext cx="3474720" cy="411480"/>
          </a:xfrm>
          <a:prstGeom prst="round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中級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0312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イントロダクション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生成AIの発展と社会に与えるインパクト (1) 1〜4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生成AIの発展と社会に与えるインパクト (2) 1〜5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生成AIの発展と社会に与えるインパクト (3),(4) 1〜3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プロンプトスキル向上のための応用知識 (1) 1〜6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プロンプトスキル向上のための応用知識 (2)〜(5) 1〜2 (2)〜(5) ケーススタディ1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プロンプトスキル向上のための応用知識 (6) 1〜6 ケーススタディ1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生成AIを用いた業務改善 (1)〜(12) ケーススタディ1234567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生成AIをより上手く活用するための論理的思考力の醸成 (1)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生成AIをより上手く活用するための論理的思考力の醸成 (2) 1〜6 ケーススタディ1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生成AIをより上手く活用するための論理的思考力の醸成 (3) 1〜4 ケーススタディ1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生成AIをより上手く活用するための論理的思考力の醸成 (4) 1〜3 ケーススタディ1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生成AI時代に求められる人間の思考力 (1)〜(3) 1〜6 (1)〜(3) ケーススタディ1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002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01000" y="1600200"/>
            <a:ext cx="3474720" cy="4114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上級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0312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イントロダクション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DXに対する基本理解と生成AI活用の未来 (1)〜(7)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企業と個人のDXを実現するために「課題」の解像度を高める (1),(3),(4) 1〜8 (1),(3) ケーススタディ1 (4) ケーススタディ12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企業と個人のDXを実現するために「課題」の解像度を高める (2),(5) 1〜7 (2) ケーススタディ1 (5) ケーススタディ123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生成AI活用力の向上と業務改善への道筋 (1) 1〜6 ケーススタディ1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生成AI活用力の向上と業務改善への道筋 (2) 1〜8 ケーススタディ123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生成AI活用力の向上と業務改善への道筋 (3) 1〜9 ケーススタディ123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生成AI活用力の向上と業務改善への道筋 (4) 1〜8 ケーススタディ12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個人DXを実現する生成AI活用と具体事例 (1),(2) 1〜5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個人DXを実現する生成AI活用と具体事例 (3) 1〜7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750">
                <a:solidFill>
                  <a:srgbClr val="2C2C2C"/>
                </a:solidFill>
                <a:latin typeface="Yu Gothic"/>
              </a:rPr>
              <a:t>• 個人DXを実現する生成AI活用と具体事例 (4) 1〜6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Yu Gothic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